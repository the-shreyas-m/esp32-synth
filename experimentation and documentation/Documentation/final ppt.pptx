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5.jp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  <p:sldId id="271" r:id="rId18"/>
  </p:sldIdLst>
  <p:sldSz cx="10083800" cy="7562850"/>
  <p:notesSz cx="10083800" cy="7562850"/>
  <p:defaultTextStyle>
    <a:defPPr lvl="0">
      <a:defRPr kern="0"/>
    </a:defPPr>
    <a:lvl1pPr lvl="0">
      <a:defRPr/>
    </a:lvl1pPr>
    <a:lvl2pPr lvl="1">
      <a:defRPr/>
    </a:lvl2pPr>
    <a:lvl3pPr lvl="2">
      <a:defRPr/>
    </a:lvl3pPr>
    <a:lvl4pPr lvl="3">
      <a:defRPr/>
    </a:lvl4pPr>
    <a:lvl5pPr lvl="4">
      <a:defRPr/>
    </a:lvl5pPr>
    <a:lvl6pPr lvl="5">
      <a:defRPr/>
    </a:lvl6pPr>
    <a:lvl7pPr lvl="6">
      <a:defRPr/>
    </a:lvl7pPr>
    <a:lvl8pPr lvl="7">
      <a:defRPr/>
    </a:lvl8pPr>
    <a:lvl9pPr lvl="8">
      <a:defRPr/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38BA8D-89F2-4E98-9F0F-091D3D50B359}" v="1" dt="2025-10-31T03:01:38.204"/>
  </p1510:revLst>
</p1510:revInfo>
</file>

<file path=ppt/tableStyles.xml><?xml version="1.0" encoding="utf-8"?>
<a:tblStyleLst xmlns:a="http://schemas.openxmlformats.org/drawingml/2006/main" def="{90651C3A-4460-11DB-9652-00E08161165F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579" y="5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s Mhatre" userId="f0ca841e09f01fa4" providerId="LiveId" clId="{B6CF346D-A01C-4132-8D3C-6470985FE890}"/>
    <pc:docChg chg="undo custSel addSld delSld modSld sldOrd">
      <pc:chgData name="Shreyas Mhatre" userId="f0ca841e09f01fa4" providerId="LiveId" clId="{B6CF346D-A01C-4132-8D3C-6470985FE890}" dt="2025-10-31T03:02:22.935" v="16"/>
      <pc:docMkLst>
        <pc:docMk/>
      </pc:docMkLst>
      <pc:sldChg chg="delSp modSp add mod ord">
        <pc:chgData name="Shreyas Mhatre" userId="f0ca841e09f01fa4" providerId="LiveId" clId="{B6CF346D-A01C-4132-8D3C-6470985FE890}" dt="2025-10-31T03:02:22.935" v="16"/>
        <pc:sldMkLst>
          <pc:docMk/>
          <pc:sldMk cId="2068298413" sldId="272"/>
        </pc:sldMkLst>
        <pc:spChg chg="del mod">
          <ac:chgData name="Shreyas Mhatre" userId="f0ca841e09f01fa4" providerId="LiveId" clId="{B6CF346D-A01C-4132-8D3C-6470985FE890}" dt="2025-10-31T03:01:48.747" v="10"/>
          <ac:spMkLst>
            <pc:docMk/>
            <pc:sldMk cId="2068298413" sldId="272"/>
            <ac:spMk id="3" creationId="{3EC46982-5FDB-58F0-23A3-347F9748C537}"/>
          </ac:spMkLst>
        </pc:spChg>
        <pc:picChg chg="mod">
          <ac:chgData name="Shreyas Mhatre" userId="f0ca841e09f01fa4" providerId="LiveId" clId="{B6CF346D-A01C-4132-8D3C-6470985FE890}" dt="2025-10-31T03:01:53.493" v="12" actId="14100"/>
          <ac:picMkLst>
            <pc:docMk/>
            <pc:sldMk cId="2068298413" sldId="272"/>
            <ac:picMk id="2" creationId="{B015A531-7FD0-DD86-1333-CBCBC1E01878}"/>
          </ac:picMkLst>
        </pc:picChg>
      </pc:sldChg>
      <pc:sldChg chg="new del">
        <pc:chgData name="Shreyas Mhatre" userId="f0ca841e09f01fa4" providerId="LiveId" clId="{B6CF346D-A01C-4132-8D3C-6470985FE890}" dt="2025-10-31T03:00:20.250" v="1" actId="680"/>
        <pc:sldMkLst>
          <pc:docMk/>
          <pc:sldMk cId="3619034557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4483"/>
            <a:ext cx="857123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6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485834"/>
            <a:ext cx="494030" cy="3074035"/>
          </a:xfrm>
          <a:custGeom>
            <a:avLst/>
            <a:gdLst/>
            <a:ahLst/>
            <a:cxnLst/>
            <a:rect l="l" t="t" r="r" b="b"/>
            <a:pathLst>
              <a:path w="494030" h="3074034">
                <a:moveTo>
                  <a:pt x="0" y="0"/>
                </a:moveTo>
                <a:lnTo>
                  <a:pt x="0" y="3073967"/>
                </a:lnTo>
                <a:lnTo>
                  <a:pt x="493831" y="307396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657561" y="381"/>
            <a:ext cx="4423410" cy="7559675"/>
          </a:xfrm>
          <a:custGeom>
            <a:avLst/>
            <a:gdLst/>
            <a:ahLst/>
            <a:cxnLst/>
            <a:rect l="l" t="t" r="r" b="b"/>
            <a:pathLst>
              <a:path w="4423409" h="7559675">
                <a:moveTo>
                  <a:pt x="0" y="7559421"/>
                </a:moveTo>
                <a:lnTo>
                  <a:pt x="4422936" y="4609172"/>
                </a:lnTo>
              </a:path>
              <a:path w="4423409" h="7559675">
                <a:moveTo>
                  <a:pt x="2107599" y="0"/>
                </a:moveTo>
                <a:lnTo>
                  <a:pt x="3450624" y="7559674"/>
                </a:lnTo>
              </a:path>
            </a:pathLst>
          </a:custGeom>
          <a:ln w="9906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597901" y="0"/>
            <a:ext cx="2482850" cy="7560309"/>
          </a:xfrm>
          <a:custGeom>
            <a:avLst/>
            <a:gdLst/>
            <a:ahLst/>
            <a:cxnLst/>
            <a:rect l="l" t="t" r="r" b="b"/>
            <a:pathLst>
              <a:path w="2482850" h="7560309">
                <a:moveTo>
                  <a:pt x="2230628" y="0"/>
                </a:moveTo>
                <a:lnTo>
                  <a:pt x="0" y="7559613"/>
                </a:lnTo>
                <a:lnTo>
                  <a:pt x="50488" y="7559802"/>
                </a:lnTo>
                <a:lnTo>
                  <a:pt x="2482595" y="7559802"/>
                </a:lnTo>
                <a:lnTo>
                  <a:pt x="2482595" y="8942"/>
                </a:lnTo>
                <a:lnTo>
                  <a:pt x="2230628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944060" y="0"/>
            <a:ext cx="2136775" cy="7560309"/>
          </a:xfrm>
          <a:custGeom>
            <a:avLst/>
            <a:gdLst/>
            <a:ahLst/>
            <a:cxnLst/>
            <a:rect l="l" t="t" r="r" b="b"/>
            <a:pathLst>
              <a:path w="2136775" h="7560309">
                <a:moveTo>
                  <a:pt x="2136437" y="0"/>
                </a:moveTo>
                <a:lnTo>
                  <a:pt x="0" y="0"/>
                </a:lnTo>
                <a:lnTo>
                  <a:pt x="1323891" y="7559802"/>
                </a:lnTo>
                <a:lnTo>
                  <a:pt x="2136437" y="7559802"/>
                </a:lnTo>
                <a:lnTo>
                  <a:pt x="2136437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318247" y="4322641"/>
            <a:ext cx="2762250" cy="3237230"/>
          </a:xfrm>
          <a:custGeom>
            <a:avLst/>
            <a:gdLst/>
            <a:ahLst/>
            <a:cxnLst/>
            <a:rect l="l" t="t" r="r" b="b"/>
            <a:pathLst>
              <a:path w="2762250" h="3237229">
                <a:moveTo>
                  <a:pt x="2762249" y="0"/>
                </a:moveTo>
                <a:lnTo>
                  <a:pt x="0" y="3237160"/>
                </a:lnTo>
                <a:lnTo>
                  <a:pt x="2762249" y="3237160"/>
                </a:lnTo>
                <a:lnTo>
                  <a:pt x="2762249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730882" y="0"/>
            <a:ext cx="2350135" cy="7560309"/>
          </a:xfrm>
          <a:custGeom>
            <a:avLst/>
            <a:gdLst/>
            <a:ahLst/>
            <a:cxnLst/>
            <a:rect l="l" t="t" r="r" b="b"/>
            <a:pathLst>
              <a:path w="2350134" h="7560309">
                <a:moveTo>
                  <a:pt x="2349615" y="0"/>
                </a:moveTo>
                <a:lnTo>
                  <a:pt x="0" y="0"/>
                </a:lnTo>
                <a:lnTo>
                  <a:pt x="2044053" y="7559802"/>
                </a:lnTo>
                <a:lnTo>
                  <a:pt x="2349615" y="7550760"/>
                </a:lnTo>
                <a:lnTo>
                  <a:pt x="2349615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145523" y="0"/>
            <a:ext cx="935355" cy="7560309"/>
          </a:xfrm>
          <a:custGeom>
            <a:avLst/>
            <a:gdLst/>
            <a:ahLst/>
            <a:cxnLst/>
            <a:rect l="l" t="t" r="r" b="b"/>
            <a:pathLst>
              <a:path w="935354" h="7560309">
                <a:moveTo>
                  <a:pt x="934973" y="0"/>
                </a:moveTo>
                <a:lnTo>
                  <a:pt x="745021" y="0"/>
                </a:lnTo>
                <a:lnTo>
                  <a:pt x="0" y="7559802"/>
                </a:lnTo>
                <a:lnTo>
                  <a:pt x="934973" y="7559802"/>
                </a:lnTo>
                <a:lnTo>
                  <a:pt x="934973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924374" y="0"/>
            <a:ext cx="1156335" cy="7560309"/>
          </a:xfrm>
          <a:custGeom>
            <a:avLst/>
            <a:gdLst/>
            <a:ahLst/>
            <a:cxnLst/>
            <a:rect l="l" t="t" r="r" b="b"/>
            <a:pathLst>
              <a:path w="1156334" h="7560309">
                <a:moveTo>
                  <a:pt x="1156123" y="0"/>
                </a:moveTo>
                <a:lnTo>
                  <a:pt x="0" y="0"/>
                </a:lnTo>
                <a:lnTo>
                  <a:pt x="1033822" y="7559802"/>
                </a:lnTo>
                <a:lnTo>
                  <a:pt x="1156123" y="7559802"/>
                </a:lnTo>
                <a:lnTo>
                  <a:pt x="1156123" y="0"/>
                </a:lnTo>
                <a:close/>
              </a:path>
            </a:pathLst>
          </a:custGeom>
          <a:solidFill>
            <a:srgbClr val="226192">
              <a:alpha val="819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894825" y="5421228"/>
            <a:ext cx="1186180" cy="2138680"/>
          </a:xfrm>
          <a:custGeom>
            <a:avLst/>
            <a:gdLst/>
            <a:ahLst/>
            <a:cxnLst/>
            <a:rect l="l" t="t" r="r" b="b"/>
            <a:pathLst>
              <a:path w="1186179" h="2138679">
                <a:moveTo>
                  <a:pt x="1185671" y="0"/>
                </a:moveTo>
                <a:lnTo>
                  <a:pt x="0" y="2138573"/>
                </a:lnTo>
                <a:lnTo>
                  <a:pt x="1185671" y="2133059"/>
                </a:lnTo>
                <a:lnTo>
                  <a:pt x="1185671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8940" y="626363"/>
            <a:ext cx="8183498" cy="636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1275" y="3268726"/>
            <a:ext cx="6810375" cy="2232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33450"/>
            <a:ext cx="322681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1.18774%20arxiv.org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402.02227?utm_source=chatgpt.com" TargetMode="External"/><Relationship Id="rId5" Type="http://schemas.openxmlformats.org/officeDocument/2006/relationships/hyperlink" Target="https://arxiv.org/abs/2402.02267" TargetMode="External"/><Relationship Id="rId4" Type="http://schemas.openxmlformats.org/officeDocument/2006/relationships/hyperlink" Target="https://arxiv.org/abs/2412.06961%20arxiv.org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7466" y="2250611"/>
            <a:ext cx="7853045" cy="57451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indent="145415" algn="ctr">
              <a:lnSpc>
                <a:spcPts val="4020"/>
              </a:lnSpc>
              <a:spcBef>
                <a:spcPts val="480"/>
              </a:spcBef>
            </a:pPr>
            <a:r>
              <a:rPr lang="en-IN" sz="4000" spc="-10" dirty="0"/>
              <a:t>IoT based Polyphonic Synthesizer</a:t>
            </a:r>
            <a:endParaRPr sz="4000"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3023989" y="5597024"/>
            <a:ext cx="2969260" cy="79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265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Project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Guide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ts val="2785"/>
              </a:lnSpc>
            </a:pPr>
            <a:r>
              <a:rPr sz="2400" b="1" spc="-45" dirty="0">
                <a:latin typeface="Times New Roman"/>
                <a:cs typeface="Times New Roman"/>
              </a:rPr>
              <a:t>Mr.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Mahesh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Pawaskar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1717499"/>
            <a:ext cx="10081260" cy="96520"/>
            <a:chOff x="0" y="1717499"/>
            <a:chExt cx="10081260" cy="9652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17499"/>
              <a:ext cx="10080497" cy="9644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80" y="1743837"/>
              <a:ext cx="10080625" cy="0"/>
            </a:xfrm>
            <a:custGeom>
              <a:avLst/>
              <a:gdLst/>
              <a:ahLst/>
              <a:cxnLst/>
              <a:rect l="l" t="t" r="r" b="b"/>
              <a:pathLst>
                <a:path w="10080625">
                  <a:moveTo>
                    <a:pt x="0" y="0"/>
                  </a:moveTo>
                  <a:lnTo>
                    <a:pt x="10080625" y="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346" y="179070"/>
            <a:ext cx="7706106" cy="1371600"/>
          </a:xfrm>
          <a:prstGeom prst="rect">
            <a:avLst/>
          </a:prstGeom>
        </p:spPr>
      </p:pic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323537"/>
              </p:ext>
            </p:extLst>
          </p:nvPr>
        </p:nvGraphicFramePr>
        <p:xfrm>
          <a:off x="1148199" y="3119748"/>
          <a:ext cx="6720840" cy="1785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6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64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Roll</a:t>
                      </a:r>
                      <a:r>
                        <a:rPr sz="20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No.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Name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Student</a:t>
                      </a:r>
                      <a:r>
                        <a:rPr sz="2000" b="1" spc="-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ID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25" dirty="0">
                          <a:latin typeface="Trebuchet MS"/>
                          <a:cs typeface="Trebuchet MS"/>
                        </a:rPr>
                        <a:t>7</a:t>
                      </a:r>
                      <a:r>
                        <a:rPr lang="en-IN" sz="2000" spc="-25" dirty="0">
                          <a:latin typeface="Trebuchet MS"/>
                          <a:cs typeface="Trebuchet MS"/>
                        </a:rPr>
                        <a:t>8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Shreyas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Mhatre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23106135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2000" spc="-25" dirty="0">
                          <a:latin typeface="Trebuchet MS"/>
                          <a:cs typeface="Trebuchet MS"/>
                        </a:rPr>
                        <a:t>95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Samiksha</a:t>
                      </a:r>
                      <a:r>
                        <a:rPr sz="20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Patil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24206010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2000" spc="-25" dirty="0">
                          <a:latin typeface="Trebuchet MS"/>
                          <a:cs typeface="Trebuchet MS"/>
                        </a:rPr>
                        <a:t>100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Shravani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Rane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24206003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0314" y="366776"/>
            <a:ext cx="14998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0455" y="1169568"/>
            <a:ext cx="5768340" cy="4957126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34645" indent="-321945">
              <a:lnSpc>
                <a:spcPct val="100000"/>
              </a:lnSpc>
              <a:spcBef>
                <a:spcPts val="1535"/>
              </a:spcBef>
              <a:buFont typeface="Wingdings"/>
              <a:buChar char=""/>
              <a:tabLst>
                <a:tab pos="3346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Introduction</a:t>
            </a:r>
            <a:endParaRPr sz="2400" dirty="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4645" algn="l"/>
              </a:tabLst>
            </a:pPr>
            <a:r>
              <a:rPr sz="2400" b="1" dirty="0">
                <a:latin typeface="Times New Roman"/>
                <a:cs typeface="Times New Roman"/>
              </a:rPr>
              <a:t>Literature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Survey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Existing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Systems</a:t>
            </a:r>
            <a:endParaRPr sz="2400" dirty="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4645" algn="l"/>
              </a:tabLst>
            </a:pPr>
            <a:r>
              <a:rPr sz="2400" b="1" dirty="0">
                <a:latin typeface="Times New Roman"/>
                <a:cs typeface="Times New Roman"/>
              </a:rPr>
              <a:t>Limitations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Existing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Systems</a:t>
            </a:r>
            <a:endParaRPr sz="2400" dirty="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4645" algn="l"/>
              </a:tabLst>
            </a:pPr>
            <a:r>
              <a:rPr sz="2400" b="1" dirty="0">
                <a:latin typeface="Times New Roman"/>
                <a:cs typeface="Times New Roman"/>
              </a:rPr>
              <a:t>Problem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Statement</a:t>
            </a:r>
            <a:endParaRPr sz="2400" dirty="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4645" algn="l"/>
              </a:tabLst>
            </a:pPr>
            <a:r>
              <a:rPr sz="2400" b="1" dirty="0">
                <a:latin typeface="Times New Roman"/>
                <a:cs typeface="Times New Roman"/>
              </a:rPr>
              <a:t>System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Design</a:t>
            </a:r>
            <a:endParaRPr sz="2400" dirty="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46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Technologies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Methodologies</a:t>
            </a:r>
            <a:endParaRPr lang="en-IN" sz="2400" b="1" spc="-10" dirty="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4645" algn="l"/>
              </a:tabLst>
            </a:pPr>
            <a:r>
              <a:rPr lang="en-IN" sz="2400" b="1" spc="-10" dirty="0">
                <a:latin typeface="Times New Roman"/>
                <a:cs typeface="Times New Roman"/>
              </a:rPr>
              <a:t>Implementation of the project</a:t>
            </a:r>
            <a:endParaRPr sz="2400" dirty="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5"/>
              </a:spcBef>
              <a:buFont typeface="Wingdings"/>
              <a:buChar char=""/>
              <a:tabLst>
                <a:tab pos="3346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Conclusion</a:t>
            </a:r>
            <a:endParaRPr sz="2400" dirty="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46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References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936" y="783691"/>
            <a:ext cx="2490756" cy="3560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1490" y="1520241"/>
            <a:ext cx="8216900" cy="46532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200" b="1" spc="-10" dirty="0">
                <a:latin typeface="Times New Roman"/>
                <a:cs typeface="Times New Roman"/>
              </a:rPr>
              <a:t>Real-</a:t>
            </a:r>
            <a:r>
              <a:rPr sz="2200" b="1" dirty="0">
                <a:latin typeface="Times New Roman"/>
                <a:cs typeface="Times New Roman"/>
              </a:rPr>
              <a:t>World</a:t>
            </a:r>
            <a:r>
              <a:rPr sz="2200" b="1" spc="-9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Observation:</a:t>
            </a:r>
            <a:endParaRPr sz="2200">
              <a:latin typeface="Times New Roman"/>
              <a:cs typeface="Times New Roman"/>
            </a:endParaRPr>
          </a:p>
          <a:p>
            <a:pPr marL="12700" marR="6350" indent="-8890">
              <a:lnSpc>
                <a:spcPct val="100000"/>
              </a:lnSpc>
              <a:spcBef>
                <a:spcPts val="530"/>
              </a:spcBef>
              <a:buSzPct val="95454"/>
              <a:buFont typeface="Arial MT"/>
              <a:buChar char="•"/>
              <a:tabLst>
                <a:tab pos="110489" algn="l"/>
                <a:tab pos="1448435" algn="l"/>
                <a:tab pos="2303145" algn="l"/>
                <a:tab pos="2677160" algn="l"/>
                <a:tab pos="3866515" algn="l"/>
                <a:tab pos="4412615" algn="l"/>
                <a:tab pos="5964555" algn="l"/>
                <a:tab pos="6493510" algn="l"/>
                <a:tab pos="7798434" algn="l"/>
              </a:tabLst>
            </a:pPr>
            <a:r>
              <a:rPr sz="2200" spc="-10" dirty="0">
                <a:latin typeface="Times New Roman"/>
                <a:cs typeface="Times New Roman"/>
              </a:rPr>
              <a:t>	Electronic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music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growing,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but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synthesizers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are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expensive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and </a:t>
            </a:r>
            <a:r>
              <a:rPr sz="2200" spc="-10" dirty="0">
                <a:latin typeface="Times New Roman"/>
                <a:cs typeface="Times New Roman"/>
              </a:rPr>
              <a:t>complex.</a:t>
            </a:r>
            <a:endParaRPr sz="2200">
              <a:latin typeface="Times New Roman"/>
              <a:cs typeface="Times New Roman"/>
            </a:endParaRPr>
          </a:p>
          <a:p>
            <a:pPr marL="110489" indent="-106680">
              <a:lnSpc>
                <a:spcPct val="100000"/>
              </a:lnSpc>
              <a:spcBef>
                <a:spcPts val="530"/>
              </a:spcBef>
              <a:buSzPct val="95454"/>
              <a:buFont typeface="Arial MT"/>
              <a:buChar char="•"/>
              <a:tabLst>
                <a:tab pos="110489" algn="l"/>
              </a:tabLst>
            </a:pPr>
            <a:r>
              <a:rPr sz="2200" dirty="0">
                <a:latin typeface="Times New Roman"/>
                <a:cs typeface="Times New Roman"/>
              </a:rPr>
              <a:t>Beginners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hobbyists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lack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affordable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customizable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options.</a:t>
            </a:r>
            <a:endParaRPr sz="2200">
              <a:latin typeface="Times New Roman"/>
              <a:cs typeface="Times New Roman"/>
            </a:endParaRPr>
          </a:p>
          <a:p>
            <a:pPr marL="12700" marR="6350" indent="-8890">
              <a:lnSpc>
                <a:spcPct val="100000"/>
              </a:lnSpc>
              <a:spcBef>
                <a:spcPts val="525"/>
              </a:spcBef>
              <a:buSzPct val="95454"/>
              <a:buFont typeface="Arial MT"/>
              <a:buChar char="•"/>
              <a:tabLst>
                <a:tab pos="110489" algn="l"/>
                <a:tab pos="1018540" algn="l"/>
                <a:tab pos="1349375" algn="l"/>
                <a:tab pos="1617345" algn="l"/>
                <a:tab pos="2725420" algn="l"/>
                <a:tab pos="4610100" algn="l"/>
                <a:tab pos="5251450" algn="l"/>
                <a:tab pos="6095365" algn="l"/>
                <a:tab pos="6861175" algn="l"/>
                <a:tab pos="7409815" algn="l"/>
              </a:tabLst>
            </a:pPr>
            <a:r>
              <a:rPr sz="2200" spc="-10" dirty="0">
                <a:latin typeface="Times New Roman"/>
                <a:cs typeface="Times New Roman"/>
              </a:rPr>
              <a:t>	ESP32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low-</a:t>
            </a:r>
            <a:r>
              <a:rPr sz="2200" spc="-20" dirty="0">
                <a:latin typeface="Times New Roman"/>
                <a:cs typeface="Times New Roman"/>
              </a:rPr>
              <a:t>cost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microcontroller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with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strong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audio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control features.</a:t>
            </a:r>
            <a:endParaRPr sz="2200">
              <a:latin typeface="Times New Roman"/>
              <a:cs typeface="Times New Roman"/>
            </a:endParaRPr>
          </a:p>
          <a:p>
            <a:pPr marL="12700" marR="5080" indent="-8890">
              <a:lnSpc>
                <a:spcPct val="100000"/>
              </a:lnSpc>
              <a:spcBef>
                <a:spcPts val="530"/>
              </a:spcBef>
              <a:buSzPct val="95454"/>
              <a:buFont typeface="Arial MT"/>
              <a:buChar char="•"/>
              <a:tabLst>
                <a:tab pos="110489" algn="l"/>
                <a:tab pos="1092200" algn="l"/>
                <a:tab pos="2940685" algn="l"/>
                <a:tab pos="3608704" algn="l"/>
                <a:tab pos="5078095" algn="l"/>
                <a:tab pos="6945630" algn="l"/>
              </a:tabLst>
            </a:pPr>
            <a:r>
              <a:rPr sz="2200" spc="-10" dirty="0">
                <a:latin typeface="Times New Roman"/>
                <a:cs typeface="Times New Roman"/>
              </a:rPr>
              <a:t>	Current</a:t>
            </a:r>
            <a:r>
              <a:rPr sz="2200" dirty="0">
                <a:latin typeface="Times New Roman"/>
                <a:cs typeface="Times New Roman"/>
              </a:rPr>
              <a:t>	solutions</a:t>
            </a:r>
            <a:r>
              <a:rPr sz="2200" spc="4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don’t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offer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easy-to-</a:t>
            </a:r>
            <a:r>
              <a:rPr sz="2200" spc="-20" dirty="0">
                <a:latin typeface="Times New Roman"/>
                <a:cs typeface="Times New Roman"/>
              </a:rPr>
              <a:t>use,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budget-friendly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polyphonic synths.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b="1" spc="-10" dirty="0">
                <a:latin typeface="Times New Roman"/>
                <a:cs typeface="Times New Roman"/>
              </a:rPr>
              <a:t>Motivation:</a:t>
            </a:r>
            <a:endParaRPr sz="2200">
              <a:latin typeface="Times New Roman"/>
              <a:cs typeface="Times New Roman"/>
            </a:endParaRPr>
          </a:p>
          <a:p>
            <a:pPr marL="110489" indent="-106680">
              <a:lnSpc>
                <a:spcPct val="100000"/>
              </a:lnSpc>
              <a:spcBef>
                <a:spcPts val="530"/>
              </a:spcBef>
              <a:buSzPct val="95454"/>
              <a:buFont typeface="Arial MT"/>
              <a:buChar char="•"/>
              <a:tabLst>
                <a:tab pos="110489" algn="l"/>
              </a:tabLst>
            </a:pPr>
            <a:r>
              <a:rPr sz="2200" dirty="0">
                <a:latin typeface="Times New Roman"/>
                <a:cs typeface="Times New Roman"/>
              </a:rPr>
              <a:t>Saw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DIY-</a:t>
            </a:r>
            <a:r>
              <a:rPr sz="2200" spc="-10" dirty="0">
                <a:latin typeface="Times New Roman"/>
                <a:cs typeface="Times New Roman"/>
              </a:rPr>
              <a:t>friendly,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affordable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synthesizer.</a:t>
            </a:r>
            <a:endParaRPr sz="2200">
              <a:latin typeface="Times New Roman"/>
              <a:cs typeface="Times New Roman"/>
            </a:endParaRPr>
          </a:p>
          <a:p>
            <a:pPr marL="110489" indent="-106680">
              <a:lnSpc>
                <a:spcPct val="100000"/>
              </a:lnSpc>
              <a:spcBef>
                <a:spcPts val="525"/>
              </a:spcBef>
              <a:buSzPct val="95454"/>
              <a:buFont typeface="Arial MT"/>
              <a:buChar char="•"/>
              <a:tabLst>
                <a:tab pos="110489" algn="l"/>
              </a:tabLst>
            </a:pPr>
            <a:r>
              <a:rPr sz="2200" spc="-20" dirty="0">
                <a:latin typeface="Times New Roman"/>
                <a:cs typeface="Times New Roman"/>
              </a:rPr>
              <a:t>Wanted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combine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touch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MIDI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control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flexible</a:t>
            </a:r>
            <a:r>
              <a:rPr sz="2200" spc="-10" dirty="0">
                <a:latin typeface="Times New Roman"/>
                <a:cs typeface="Times New Roman"/>
              </a:rPr>
              <a:t> input.</a:t>
            </a:r>
            <a:endParaRPr sz="2200">
              <a:latin typeface="Times New Roman"/>
              <a:cs typeface="Times New Roman"/>
            </a:endParaRPr>
          </a:p>
          <a:p>
            <a:pPr marL="110489" indent="-106680">
              <a:lnSpc>
                <a:spcPct val="100000"/>
              </a:lnSpc>
              <a:spcBef>
                <a:spcPts val="530"/>
              </a:spcBef>
              <a:buSzPct val="95454"/>
              <a:buFont typeface="Arial MT"/>
              <a:buChar char="•"/>
              <a:tabLst>
                <a:tab pos="110489" algn="l"/>
              </a:tabLst>
            </a:pPr>
            <a:r>
              <a:rPr sz="2200" dirty="0">
                <a:latin typeface="Times New Roman"/>
                <a:cs typeface="Times New Roman"/>
              </a:rPr>
              <a:t>Inspired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potential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ESP32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music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sound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projects.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610" y="1119581"/>
            <a:ext cx="7725098" cy="30675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Project</a:t>
            </a:r>
            <a:r>
              <a:rPr sz="2800" b="1" spc="-11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Objectives: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Build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polyphonic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synthesizer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ESP32.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Add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custom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touch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interface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real-time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control.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Make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open-</a:t>
            </a:r>
            <a:r>
              <a:rPr sz="2800" dirty="0">
                <a:latin typeface="Times New Roman"/>
                <a:cs typeface="Times New Roman"/>
              </a:rPr>
              <a:t>source,</a:t>
            </a:r>
            <a:r>
              <a:rPr sz="2800" spc="-10" dirty="0">
                <a:latin typeface="Times New Roman"/>
                <a:cs typeface="Times New Roman"/>
              </a:rPr>
              <a:t> low-</a:t>
            </a:r>
            <a:r>
              <a:rPr sz="2800" dirty="0">
                <a:latin typeface="Times New Roman"/>
                <a:cs typeface="Times New Roman"/>
              </a:rPr>
              <a:t>cost,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easy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expand.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79" y="509790"/>
            <a:ext cx="8547354" cy="10043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279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10" dirty="0"/>
              <a:t> </a:t>
            </a:r>
            <a:r>
              <a:rPr dirty="0"/>
              <a:t>Survey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Existing</a:t>
            </a:r>
            <a:r>
              <a:rPr spc="-15" dirty="0"/>
              <a:t> </a:t>
            </a:r>
            <a:r>
              <a:rPr spc="-10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8677" y="1768856"/>
            <a:ext cx="7840980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Times New Roman"/>
                <a:cs typeface="Times New Roman"/>
              </a:rPr>
              <a:t>Existing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Solutions:</a:t>
            </a:r>
            <a:endParaRPr sz="2000">
              <a:latin typeface="Times New Roman"/>
              <a:cs typeface="Times New Roman"/>
            </a:endParaRPr>
          </a:p>
          <a:p>
            <a:pPr marL="355600" marR="5715" indent="-343535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Commercial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Synths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(e.g.,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Roland,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Korg):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Great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sound,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expensive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customizable.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  <a:tab pos="1861185" algn="l"/>
                <a:tab pos="2717165" algn="l"/>
                <a:tab pos="3397885" algn="l"/>
                <a:tab pos="4275455" algn="l"/>
                <a:tab pos="5310505" algn="l"/>
                <a:tab pos="6647815" algn="l"/>
                <a:tab pos="7138034" algn="l"/>
              </a:tabLst>
            </a:pPr>
            <a:r>
              <a:rPr sz="2000" spc="-10" dirty="0">
                <a:latin typeface="Times New Roman"/>
                <a:cs typeface="Times New Roman"/>
              </a:rPr>
              <a:t>Open-Source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Synths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(e.g.,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Mozzi,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Teensy):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Affordable,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but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mostly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monophonic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complex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up.</a:t>
            </a:r>
            <a:endParaRPr sz="2000">
              <a:latin typeface="Times New Roman"/>
              <a:cs typeface="Times New Roman"/>
            </a:endParaRPr>
          </a:p>
          <a:p>
            <a:pPr marL="355600" marR="5715" indent="-343535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Synths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(VSTs,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DAWs):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Flexible,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PC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not </a:t>
            </a:r>
            <a:r>
              <a:rPr sz="2000" spc="-10" dirty="0">
                <a:latin typeface="Times New Roman"/>
                <a:cs typeface="Times New Roman"/>
              </a:rPr>
              <a:t>portable.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  <a:tab pos="972185" algn="l"/>
                <a:tab pos="1723389" algn="l"/>
                <a:tab pos="3107055" algn="l"/>
                <a:tab pos="3886835" algn="l"/>
                <a:tab pos="4314190" algn="l"/>
                <a:tab pos="5205730" algn="l"/>
                <a:tab pos="5875655" algn="l"/>
                <a:tab pos="6303645" algn="l"/>
                <a:tab pos="7220584" algn="l"/>
              </a:tabLst>
            </a:pPr>
            <a:r>
              <a:rPr sz="2000" spc="-25" dirty="0">
                <a:latin typeface="Times New Roman"/>
                <a:cs typeface="Times New Roman"/>
              </a:rPr>
              <a:t>DIY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MIDI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Controllers: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Focus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control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only,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no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built-</a:t>
            </a:r>
            <a:r>
              <a:rPr sz="2000" spc="-3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sound generation.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Issues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Identified: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limited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beginners.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Lack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integrated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touch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MIDI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device.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Hard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customize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existing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" y="348487"/>
            <a:ext cx="7207250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Times New Roman"/>
                <a:cs typeface="Times New Roman"/>
              </a:rPr>
              <a:t>User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Survey: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Who?: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Music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learners,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hobbyists,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indie</a:t>
            </a:r>
            <a:r>
              <a:rPr sz="2000" spc="-10" dirty="0">
                <a:latin typeface="Times New Roman"/>
                <a:cs typeface="Times New Roman"/>
              </a:rPr>
              <a:t> artists.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Needs?: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Low-</a:t>
            </a:r>
            <a:r>
              <a:rPr sz="2000" dirty="0">
                <a:latin typeface="Times New Roman"/>
                <a:cs typeface="Times New Roman"/>
              </a:rPr>
              <a:t>cost,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portable,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customizable,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easy-</a:t>
            </a:r>
            <a:r>
              <a:rPr sz="2000" spc="-10" dirty="0">
                <a:latin typeface="Times New Roman"/>
                <a:cs typeface="Times New Roman"/>
              </a:rPr>
              <a:t>to-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synthesizer.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Expectations: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Good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sound,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MIDI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touch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support.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latin typeface="Times New Roman"/>
                <a:cs typeface="Times New Roman"/>
              </a:rPr>
              <a:t>Technology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Overview: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944675"/>
              </p:ext>
            </p:extLst>
          </p:nvPr>
        </p:nvGraphicFramePr>
        <p:xfrm>
          <a:off x="496887" y="2333625"/>
          <a:ext cx="7344409" cy="2661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7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ESP32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889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Cheap,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powerful,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Wi-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MIDI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889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DAC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best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audio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DACESP32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library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Easy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audio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Arduino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96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Monophonic,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basic sounds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Touch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Input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Interactive,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intuitive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calibration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MIDI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Protocol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>
                          <a:latin typeface="Times New Roman"/>
                          <a:cs typeface="Times New Roman"/>
                        </a:rPr>
                        <a:t>Widely</a:t>
                      </a:r>
                      <a:r>
                        <a:rPr sz="18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>
                          <a:latin typeface="Times New Roman"/>
                          <a:cs typeface="Times New Roman"/>
                        </a:rPr>
                        <a:t>supported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956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decoding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ESP32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81913" y="5244592"/>
            <a:ext cx="7602717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Observation:</a:t>
            </a: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There’s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strong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gap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expensive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commercial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synths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basic </a:t>
            </a:r>
            <a:r>
              <a:rPr sz="2000" dirty="0">
                <a:latin typeface="Times New Roman"/>
                <a:cs typeface="Times New Roman"/>
              </a:rPr>
              <a:t>DIY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options.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smart,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affordable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synth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ESP32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Touch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20" dirty="0">
                <a:latin typeface="Times New Roman"/>
                <a:cs typeface="Times New Roman"/>
              </a:rPr>
              <a:t> MIDI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effectively.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800" y="846175"/>
            <a:ext cx="3709248" cy="3560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6013" y="1731263"/>
            <a:ext cx="769175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Most</a:t>
            </a:r>
            <a:r>
              <a:rPr sz="2200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existing</a:t>
            </a:r>
            <a:r>
              <a:rPr sz="2200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polyphonic</a:t>
            </a:r>
            <a:r>
              <a:rPr sz="2200" spc="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synthesizers</a:t>
            </a:r>
            <a:r>
              <a:rPr sz="2200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200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expensive,</a:t>
            </a:r>
            <a:r>
              <a:rPr sz="2200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complex,</a:t>
            </a:r>
            <a:r>
              <a:rPr sz="2200" spc="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200000"/>
              </a:lnSpc>
            </a:pP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lack</a:t>
            </a:r>
            <a:r>
              <a:rPr sz="2200" spc="3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customization</a:t>
            </a:r>
            <a:r>
              <a:rPr sz="2200" spc="3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options.</a:t>
            </a:r>
            <a:r>
              <a:rPr sz="2200" spc="3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Beginners</a:t>
            </a:r>
            <a:r>
              <a:rPr sz="2200" spc="3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200" spc="3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hobbyists</a:t>
            </a:r>
            <a:r>
              <a:rPr sz="2200" spc="3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need</a:t>
            </a:r>
            <a:r>
              <a:rPr sz="22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2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Times New Roman"/>
                <a:cs typeface="Times New Roman"/>
              </a:rPr>
              <a:t>low-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cost,</a:t>
            </a:r>
            <a:r>
              <a:rPr sz="2200" spc="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portable</a:t>
            </a:r>
            <a:r>
              <a:rPr sz="2200" spc="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solution</a:t>
            </a:r>
            <a:r>
              <a:rPr sz="2200" spc="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200" spc="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supports</a:t>
            </a:r>
            <a:r>
              <a:rPr sz="2200" spc="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real-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time</a:t>
            </a:r>
            <a:r>
              <a:rPr sz="2200" spc="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touch</a:t>
            </a:r>
            <a:r>
              <a:rPr sz="2200" spc="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control</a:t>
            </a:r>
            <a:r>
              <a:rPr sz="2200" spc="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200" spc="-25" dirty="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MIDI</a:t>
            </a:r>
            <a:r>
              <a:rPr sz="2200" spc="48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input.</a:t>
            </a:r>
            <a:r>
              <a:rPr sz="2200" spc="48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2200" spc="48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200" spc="4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aims</a:t>
            </a:r>
            <a:r>
              <a:rPr sz="2200" spc="48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200" spc="4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create</a:t>
            </a:r>
            <a:r>
              <a:rPr sz="2200" spc="4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200" spc="48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affordable</a:t>
            </a:r>
            <a:r>
              <a:rPr sz="2200" spc="48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200" spc="4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user-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friendly</a:t>
            </a:r>
            <a:r>
              <a:rPr sz="2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polyphonic</a:t>
            </a:r>
            <a:r>
              <a:rPr sz="22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synthesizer</a:t>
            </a:r>
            <a:r>
              <a:rPr sz="2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using</a:t>
            </a:r>
            <a:r>
              <a:rPr sz="2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ESP32</a:t>
            </a:r>
            <a:r>
              <a:rPr sz="2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platform.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329" y="783691"/>
            <a:ext cx="2830860" cy="4473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 </a:t>
            </a:r>
            <a:r>
              <a:rPr spc="-10" dirty="0"/>
              <a:t>Design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054" y="1403604"/>
            <a:ext cx="8424672" cy="55305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458" y="783691"/>
            <a:ext cx="6315714" cy="4473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Technologies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Methodologies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387417"/>
              </p:ext>
            </p:extLst>
          </p:nvPr>
        </p:nvGraphicFramePr>
        <p:xfrm>
          <a:off x="496887" y="1512951"/>
          <a:ext cx="7993379" cy="5352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4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4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1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Component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Technology</a:t>
                      </a:r>
                      <a:r>
                        <a:rPr sz="2000" b="1" spc="-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Used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Purpose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Core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Processor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ESP32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7696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Handle</a:t>
                      </a:r>
                      <a:r>
                        <a:rPr sz="20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synthesis,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input,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20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output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Sound</a:t>
                      </a:r>
                      <a:r>
                        <a:rPr sz="20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Engine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Custom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lang="en-IN" sz="2000" dirty="0">
                          <a:latin typeface="Trebuchet MS"/>
                          <a:cs typeface="Trebuchet MS"/>
                        </a:rPr>
                        <a:t> DACESP32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114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Generate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polyphonic audio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Input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(Touch)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2000" dirty="0">
                          <a:latin typeface="Trebuchet MS"/>
                          <a:cs typeface="Trebuchet MS"/>
                        </a:rPr>
                        <a:t>Tactile switches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0858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25" dirty="0">
                          <a:latin typeface="Trebuchet MS"/>
                          <a:cs typeface="Trebuchet MS"/>
                        </a:rPr>
                        <a:t>Real-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note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triggering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2000" dirty="0">
                          <a:latin typeface="Trebuchet MS"/>
                          <a:cs typeface="Trebuchet MS"/>
                        </a:rPr>
                        <a:t>Playing Notes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2000" dirty="0">
                          <a:latin typeface="Trebuchet MS"/>
                          <a:cs typeface="Trebuchet MS"/>
                        </a:rPr>
                        <a:t>Button Matrix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832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2000" dirty="0">
                          <a:latin typeface="Trebuchet MS"/>
                          <a:cs typeface="Trebuchet MS"/>
                        </a:rPr>
                        <a:t>Fast Instant </a:t>
                      </a:r>
                      <a:r>
                        <a:rPr lang="en-IN" sz="2000">
                          <a:latin typeface="Trebuchet MS"/>
                          <a:cs typeface="Trebuchet MS"/>
                        </a:rPr>
                        <a:t>Note detection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Audio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Output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Internal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12S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5" dirty="0">
                          <a:latin typeface="Trebuchet MS"/>
                          <a:cs typeface="Trebuchet MS"/>
                        </a:rPr>
                        <a:t>DAC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Analog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signal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output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0570">
                <a:tc>
                  <a:txBody>
                    <a:bodyPr/>
                    <a:lstStyle/>
                    <a:p>
                      <a:pPr marL="90805" marR="64579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Development Tools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Arduino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IDE,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20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5" dirty="0">
                          <a:latin typeface="Trebuchet MS"/>
                          <a:cs typeface="Trebuchet MS"/>
                        </a:rPr>
                        <a:t>C++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587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Code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development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uploading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0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Optimization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 dirty="0">
                          <a:latin typeface="Trebuchet MS"/>
                          <a:cs typeface="Trebuchet MS"/>
                        </a:rPr>
                        <a:t>Real-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scheduling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663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Ensure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audio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input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processing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smooth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50CC11-FAC9-FD6D-74DD-46142E68311E}"/>
              </a:ext>
            </a:extLst>
          </p:cNvPr>
          <p:cNvSpPr txBox="1"/>
          <p:nvPr/>
        </p:nvSpPr>
        <p:spPr>
          <a:xfrm>
            <a:off x="419548" y="494852"/>
            <a:ext cx="719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the Project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41" y="1141183"/>
            <a:ext cx="6430037" cy="562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85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19" y="472190"/>
            <a:ext cx="3213074" cy="64307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383" y="472190"/>
            <a:ext cx="3148532" cy="6430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30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88" y="134912"/>
            <a:ext cx="3369831" cy="71203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1541" y="134912"/>
            <a:ext cx="3358393" cy="709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133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376" y="224852"/>
            <a:ext cx="3291793" cy="695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72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09A83-0460-E254-DFA9-FCA07ED0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15A531-7FD0-DD86-1333-CBCBC1E018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rot="5400000">
            <a:off x="2238792" y="357106"/>
            <a:ext cx="5626282" cy="644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98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018" y="783691"/>
            <a:ext cx="2180245" cy="3560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5066" y="1428241"/>
            <a:ext cx="24117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9605" algn="l"/>
                <a:tab pos="1537970" algn="l"/>
                <a:tab pos="2201545" algn="l"/>
              </a:tabLst>
            </a:pPr>
            <a:r>
              <a:rPr sz="2000" spc="-20" dirty="0">
                <a:latin typeface="Times New Roman"/>
                <a:cs typeface="Times New Roman"/>
              </a:rPr>
              <a:t>This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project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aims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7070" y="1428241"/>
            <a:ext cx="53352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5819" algn="l"/>
                <a:tab pos="1341120" algn="l"/>
                <a:tab pos="1894205" algn="l"/>
                <a:tab pos="2926715" algn="l"/>
                <a:tab pos="4126865" algn="l"/>
              </a:tabLst>
            </a:pPr>
            <a:r>
              <a:rPr sz="2000" spc="-10" dirty="0">
                <a:latin typeface="Times New Roman"/>
                <a:cs typeface="Times New Roman"/>
              </a:rPr>
              <a:t>bridge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gap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between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expensive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commercial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066" y="1733042"/>
            <a:ext cx="7907655" cy="43467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/>
                <a:cs typeface="Times New Roman"/>
              </a:rPr>
              <a:t>synthesizers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limited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DIY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audio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developing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affordable, </a:t>
            </a:r>
            <a:r>
              <a:rPr sz="2000" dirty="0">
                <a:latin typeface="Times New Roman"/>
                <a:cs typeface="Times New Roman"/>
              </a:rPr>
              <a:t>portable,</a:t>
            </a:r>
            <a:r>
              <a:rPr sz="2000" spc="2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customizable</a:t>
            </a:r>
            <a:r>
              <a:rPr sz="2000" spc="2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polyphonic</a:t>
            </a:r>
            <a:r>
              <a:rPr sz="2000" b="1" spc="2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synthesizer</a:t>
            </a:r>
            <a:r>
              <a:rPr sz="2000" b="1" spc="2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2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15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ESP32 </a:t>
            </a:r>
            <a:r>
              <a:rPr sz="2000" b="1" dirty="0">
                <a:latin typeface="Times New Roman"/>
                <a:cs typeface="Times New Roman"/>
              </a:rPr>
              <a:t>microcontroller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integration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b="1" spc="-20" dirty="0">
                <a:latin typeface="Times New Roman"/>
                <a:cs typeface="Times New Roman"/>
              </a:rPr>
              <a:t>real-</a:t>
            </a:r>
            <a:r>
              <a:rPr sz="2000" b="1" dirty="0">
                <a:latin typeface="Times New Roman"/>
                <a:cs typeface="Times New Roman"/>
              </a:rPr>
              <a:t>time</a:t>
            </a:r>
            <a:r>
              <a:rPr sz="2000" b="1" spc="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touch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interact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synthesizer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intuitively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spc="-10" dirty="0">
                <a:latin typeface="Times New Roman"/>
                <a:cs typeface="Times New Roman"/>
              </a:rPr>
              <a:t>flexibly.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3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combining</a:t>
            </a:r>
            <a:r>
              <a:rPr sz="2000" spc="3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various</a:t>
            </a:r>
            <a:r>
              <a:rPr sz="2000" spc="3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technologies</a:t>
            </a:r>
            <a:r>
              <a:rPr sz="2000" spc="3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36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capacitive</a:t>
            </a:r>
            <a:r>
              <a:rPr sz="2000" b="1" spc="36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sensing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355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audio </a:t>
            </a:r>
            <a:r>
              <a:rPr sz="2000" b="1" dirty="0">
                <a:latin typeface="Times New Roman"/>
                <a:cs typeface="Times New Roman"/>
              </a:rPr>
              <a:t>waveform</a:t>
            </a:r>
            <a:r>
              <a:rPr sz="2000" b="1" spc="31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generation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20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digital-to-analog </a:t>
            </a:r>
            <a:r>
              <a:rPr sz="2000" b="1" dirty="0">
                <a:latin typeface="Times New Roman"/>
                <a:cs typeface="Times New Roman"/>
              </a:rPr>
              <a:t>conversion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delivers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complete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functional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music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synthesis </a:t>
            </a:r>
            <a:r>
              <a:rPr sz="2000" dirty="0">
                <a:latin typeface="Times New Roman"/>
                <a:cs typeface="Times New Roman"/>
              </a:rPr>
              <a:t>platform.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open-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tools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low-</a:t>
            </a:r>
            <a:r>
              <a:rPr sz="2000" dirty="0">
                <a:latin typeface="Times New Roman"/>
                <a:cs typeface="Times New Roman"/>
              </a:rPr>
              <a:t>cost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ensures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that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synthesizer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remains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accessible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students,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hobbyists,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independent musicians.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Overall,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practical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solution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real-world </a:t>
            </a:r>
            <a:r>
              <a:rPr sz="2000" dirty="0">
                <a:latin typeface="Times New Roman"/>
                <a:cs typeface="Times New Roman"/>
              </a:rPr>
              <a:t>problem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opens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up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further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opportunities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enhancement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customization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future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versions.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524" y="783691"/>
            <a:ext cx="2131917" cy="3560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490" y="1509268"/>
            <a:ext cx="8377555" cy="3195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1790" marR="6985" indent="-33909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Roth,</a:t>
            </a:r>
            <a:r>
              <a:rPr sz="2000" spc="385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J.,</a:t>
            </a:r>
            <a:r>
              <a:rPr sz="2000" spc="395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Keller,</a:t>
            </a:r>
            <a:r>
              <a:rPr sz="2000" spc="39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D.,</a:t>
            </a:r>
            <a:r>
              <a:rPr sz="2000" spc="39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Castañeda,</a:t>
            </a:r>
            <a:r>
              <a:rPr sz="2000" spc="395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O.,</a:t>
            </a:r>
            <a:r>
              <a:rPr sz="2000" spc="385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2000" spc="39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Studer,</a:t>
            </a:r>
            <a:r>
              <a:rPr sz="2000" spc="39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C. 	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“An</a:t>
            </a:r>
            <a:r>
              <a:rPr sz="2000" b="1" spc="-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Aliasing-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Free</a:t>
            </a:r>
            <a:r>
              <a:rPr sz="2000" b="1" spc="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Hybrid</a:t>
            </a:r>
            <a:r>
              <a:rPr sz="2000" b="1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Digital-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Analog</a:t>
            </a:r>
            <a:r>
              <a:rPr sz="2000" b="1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Polyphonic</a:t>
            </a:r>
            <a:r>
              <a:rPr sz="2000" b="1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Synthesizer”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000" spc="-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spc="-20" dirty="0">
                <a:solidFill>
                  <a:srgbClr val="404040"/>
                </a:solidFill>
                <a:latin typeface="Times New Roman"/>
                <a:cs typeface="Times New Roman"/>
              </a:rPr>
              <a:t>IEEE 	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Journal</a:t>
            </a:r>
            <a:r>
              <a:rPr sz="2000" i="1" spc="2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i="1" spc="26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Solid-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State</a:t>
            </a:r>
            <a:r>
              <a:rPr sz="2000" i="1" spc="2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Circuits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000" spc="26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vol.</a:t>
            </a:r>
            <a:r>
              <a:rPr sz="2000" spc="2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59,</a:t>
            </a:r>
            <a:r>
              <a:rPr sz="2000" spc="2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no.</a:t>
            </a:r>
            <a:r>
              <a:rPr sz="2000" spc="2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2,</a:t>
            </a:r>
            <a:r>
              <a:rPr sz="2000" spc="26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pp.</a:t>
            </a:r>
            <a:r>
              <a:rPr sz="2000" spc="2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358–370,</a:t>
            </a:r>
            <a:r>
              <a:rPr sz="2000" spc="26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2023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. 	</a:t>
            </a:r>
            <a:r>
              <a:rPr sz="2000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3"/>
              </a:rPr>
              <a:t>https://arxiv.org/abs/2311.18774</a:t>
            </a:r>
            <a:r>
              <a:rPr sz="2000" u="sng" spc="-12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2000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3"/>
              </a:rPr>
              <a:t>arxiv.org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404040"/>
              </a:buClr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1790" marR="5080" indent="-33909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Sankar,</a:t>
            </a:r>
            <a:r>
              <a:rPr sz="2000" spc="425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S.</a:t>
            </a:r>
            <a:r>
              <a:rPr sz="2000" spc="430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S.,</a:t>
            </a:r>
            <a:r>
              <a:rPr sz="2000" spc="434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Kovar,</a:t>
            </a:r>
            <a:r>
              <a:rPr sz="2000" spc="425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S.,</a:t>
            </a:r>
            <a:r>
              <a:rPr sz="2000" spc="434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Pospisilik,</a:t>
            </a:r>
            <a:r>
              <a:rPr sz="2000" spc="425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M.,</a:t>
            </a:r>
            <a:r>
              <a:rPr sz="2000" spc="430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2000" spc="434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Galda,</a:t>
            </a:r>
            <a:r>
              <a:rPr sz="2000" spc="430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M. 	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“Analysis</a:t>
            </a:r>
            <a:r>
              <a:rPr sz="2000" b="1" spc="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b="1" spc="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Conducted</a:t>
            </a:r>
            <a:r>
              <a:rPr sz="2000" b="1" spc="8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b="1" spc="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Radiated</a:t>
            </a:r>
            <a:r>
              <a:rPr sz="2000" b="1" spc="8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Emission</a:t>
            </a:r>
            <a:r>
              <a:rPr sz="2000" b="1" spc="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000" b="1" spc="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b="1" spc="8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Self-oscillating 	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Capacitive</a:t>
            </a:r>
            <a:r>
              <a:rPr sz="2000" b="1" spc="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Touch</a:t>
            </a:r>
            <a:r>
              <a:rPr sz="2000" b="1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Sensing</a:t>
            </a:r>
            <a:r>
              <a:rPr sz="2000" b="1" spc="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Circuit”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00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IEEE</a:t>
            </a:r>
            <a:r>
              <a:rPr sz="2000" i="1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Transactions</a:t>
            </a:r>
            <a:r>
              <a:rPr sz="2000" i="1" spc="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000" i="1" spc="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Electromagnetic 	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Compatibility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000" spc="395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vol.</a:t>
            </a:r>
            <a:r>
              <a:rPr sz="2000" spc="40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67,</a:t>
            </a:r>
            <a:r>
              <a:rPr sz="2000" spc="40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no.</a:t>
            </a:r>
            <a:r>
              <a:rPr sz="2000" spc="40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4,</a:t>
            </a:r>
            <a:r>
              <a:rPr sz="2000" spc="40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pp.</a:t>
            </a:r>
            <a:r>
              <a:rPr sz="2000" spc="40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1234–1243,</a:t>
            </a:r>
            <a:r>
              <a:rPr sz="2000" spc="40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2024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. 	</a:t>
            </a:r>
            <a:r>
              <a:rPr sz="2000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4"/>
              </a:rPr>
              <a:t>https://arxiv.org/abs/2412.06961</a:t>
            </a:r>
            <a:r>
              <a:rPr sz="2000" u="sng" spc="-4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2000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4"/>
              </a:rPr>
              <a:t>arxiv.org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490" y="5106161"/>
            <a:ext cx="83743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1122045" algn="l"/>
                <a:tab pos="1628139" algn="l"/>
                <a:tab pos="2535555" algn="l"/>
                <a:tab pos="3027045" algn="l"/>
                <a:tab pos="3808095" algn="l"/>
                <a:tab pos="4284345" algn="l"/>
                <a:tab pos="5387975" algn="l"/>
                <a:tab pos="5894070" algn="l"/>
                <a:tab pos="6737984" algn="l"/>
                <a:tab pos="7200900" algn="l"/>
                <a:tab pos="7593330" algn="l"/>
                <a:tab pos="8147684" algn="l"/>
              </a:tabLst>
            </a:pP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Shan,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H.,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Zhang,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B.,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Zhan,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Z.,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Sullivan,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D.,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Wang,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S.,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Jin,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14" dirty="0">
                <a:solidFill>
                  <a:srgbClr val="404040"/>
                </a:solidFill>
                <a:latin typeface="Times New Roman"/>
                <a:cs typeface="Times New Roman"/>
              </a:rPr>
              <a:t>Y.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tabLst>
                <a:tab pos="1590040" algn="l"/>
                <a:tab pos="2570480" algn="l"/>
              </a:tabLst>
            </a:pP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“Invisible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Finger: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Practical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27397" y="5410961"/>
            <a:ext cx="4667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60880" algn="l"/>
                <a:tab pos="3474720" algn="l"/>
                <a:tab pos="4385310" algn="l"/>
              </a:tabLst>
            </a:pP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Electromagnetic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Interference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Attack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1389" y="5715508"/>
            <a:ext cx="80327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  <a:tabLst>
                <a:tab pos="2623820" algn="l"/>
                <a:tab pos="4408170" algn="l"/>
                <a:tab pos="5615940" algn="l"/>
                <a:tab pos="7449184" algn="l"/>
              </a:tabLst>
            </a:pPr>
            <a:r>
              <a:rPr sz="20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Touchscreen-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2000" b="1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Electronic</a:t>
            </a:r>
            <a:r>
              <a:rPr sz="2000" b="1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Devices”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000" spc="-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ACM</a:t>
            </a:r>
            <a:r>
              <a:rPr sz="2000" i="1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Conference</a:t>
            </a:r>
            <a:r>
              <a:rPr sz="2000" i="1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000" i="1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Computer</a:t>
            </a:r>
            <a:r>
              <a:rPr sz="2000" i="1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spc="-25" dirty="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sz="2000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Communications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Security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pp.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112–125,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2024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. </a:t>
            </a:r>
            <a:r>
              <a:rPr sz="2000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5"/>
              </a:rPr>
              <a:t>https://arxiv.org/abs/2402.02267</a:t>
            </a:r>
            <a:r>
              <a:rPr sz="2000" spc="-40" dirty="0">
                <a:solidFill>
                  <a:srgbClr val="3ECDE7"/>
                </a:solidFill>
                <a:latin typeface="Times New Roman"/>
                <a:cs typeface="Times New Roman"/>
              </a:rPr>
              <a:t> </a:t>
            </a:r>
            <a:r>
              <a:rPr sz="2000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6"/>
              </a:rPr>
              <a:t>arxiv.org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9359" y="3383026"/>
            <a:ext cx="28282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140" dirty="0"/>
              <a:t> </a:t>
            </a:r>
            <a:r>
              <a:rPr spc="-50" dirty="0"/>
              <a:t>You...!!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ECDE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923</Words>
  <Application>Microsoft Office PowerPoint</Application>
  <PresentationFormat>Custom</PresentationFormat>
  <Paragraphs>124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 MT</vt:lpstr>
      <vt:lpstr>Calibri</vt:lpstr>
      <vt:lpstr>Times New Roman</vt:lpstr>
      <vt:lpstr>Trebuchet MS</vt:lpstr>
      <vt:lpstr>Wingdings</vt:lpstr>
      <vt:lpstr>Office Theme</vt:lpstr>
      <vt:lpstr>IoT based Polyphonic Synthesizer</vt:lpstr>
      <vt:lpstr>Outline</vt:lpstr>
      <vt:lpstr>Introduction</vt:lpstr>
      <vt:lpstr>PowerPoint Presentation</vt:lpstr>
      <vt:lpstr>Literature Survey of the Existing System</vt:lpstr>
      <vt:lpstr>PowerPoint Presentation</vt:lpstr>
      <vt:lpstr>Problem statement</vt:lpstr>
      <vt:lpstr>System Design</vt:lpstr>
      <vt:lpstr>Technologies and Methodologies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References</vt:lpstr>
      <vt:lpstr>Thank You...!!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Shreyas Mhatre</cp:lastModifiedBy>
  <cp:revision>1</cp:revision>
  <dcterms:modified xsi:type="dcterms:W3CDTF">2025-10-31T03:02:28Z</dcterms:modified>
</cp:coreProperties>
</file>